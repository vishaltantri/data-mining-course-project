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DIABETES RISK PREDICTION &amp; HEALTHCARE DATA WAREHOUSING</a:t>
            </a:r>
          </a:p>
          <a:p>
            <a:pPr>
              <a:spcBef>
                <a:spcPts val="10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Review 1 Presentation — Dataset Exploratory Data Analysis, Star Schema DW &amp; OLAP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206240"/>
            <a:ext cx="3291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563EB"/>
                </a:solidFill>
              </a:defRPr>
            </a:pPr>
            <a:r>
              <a:t>👥 TEAM DETAILS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Team Name: Data Miners</a:t>
            </a:r>
            <a:br/>
            <a:r>
              <a:t>Member: 24MIC0068</a:t>
            </a:r>
            <a:br/>
            <a:r>
              <a:t>Course: CSI3010 DMDW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9470" y="4206240"/>
            <a:ext cx="3291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563EB"/>
                </a:solidFill>
              </a:defRPr>
            </a:pPr>
            <a:r>
              <a:t>📊 DATASET SUMMARY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Dataset: Diabetes Prediction (Kaggle)</a:t>
            </a:r>
            <a:br/>
            <a:r>
              <a:t>Size: 100,000 → 96,146 clean rows</a:t>
            </a:r>
            <a:br/>
            <a:r>
              <a:t>Target: diabetes (0/1)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85455" y="4206240"/>
            <a:ext cx="3291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563EB"/>
                </a:solidFill>
              </a:defRPr>
            </a:pPr>
            <a:r>
              <a:t>⚙️ REVIEW 1 SCOPE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✅ 8 Visual EDA Charts</a:t>
            </a:r>
            <a:br/>
            <a:r>
              <a:t>✅ SQLite Star Schema DW</a:t>
            </a:r>
            <a:br/>
            <a:r>
              <a:t>✅ 5 OLAP Operations Executed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Dataset Description &amp; Problem Overview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Data Mining &amp; Data Warehousing (CSI3010) | Team: Data Miners (24MIC0068)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55680" y="228600"/>
            <a:ext cx="5486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2563EB"/>
                </a:solidFill>
              </a:defRPr>
            </a:pPr>
            <a:r>
              <a:t>🎯 Why This Dataset &amp; Business Problem?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• Kaggle Dataset:</a:t>
            </a:r>
            <a:r>
              <a:rPr sz="1100">
                <a:solidFill>
                  <a:srgbClr val="1E293B"/>
                </a:solidFill>
              </a:rPr>
              <a:t> Diabetes Prediction Dataset (100,000 healthcare screening patient records).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• Healthcare Problem:</a:t>
            </a:r>
            <a:r>
              <a:rPr sz="1100">
                <a:solidFill>
                  <a:srgbClr val="1E293B"/>
                </a:solidFill>
              </a:rPr>
              <a:t> Early identification of high-risk diabetic individuals using non-invasive clinical &amp; lifestyle indicators.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• Key Analytical Questions:</a:t>
            </a:r>
            <a:r>
              <a:rPr sz="1100">
                <a:solidFill>
                  <a:srgbClr val="1E293B"/>
                </a:solidFill>
              </a:rPr>
              <a:t> What threshold levels of HbA1c and Blood Glucose maximize risk? How do hypertension &amp; heart disease act as comorbidities?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• Data Quality Audit:</a:t>
            </a:r>
            <a:r>
              <a:rPr sz="1100">
                <a:solidFill>
                  <a:srgbClr val="1E293B"/>
                </a:solidFill>
              </a:rPr>
              <a:t> 3,854 exact duplicates removed (3.85%). 0 explicit NaNs. 32,887 records (34.2%) with 'No Info' in smoking history retained as explicit category.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• Class Imbalance:</a:t>
            </a:r>
            <a:r>
              <a:rPr sz="1100">
                <a:solidFill>
                  <a:srgbClr val="1E293B"/>
                </a:solidFill>
              </a:rPr>
              <a:t> Imbalance ratio of 10.3:1 (87,664 Non-Diabetic vs 8,482 Diabetic). Imbalance techniques (SMOTE/Class Weights) planned for modeling phase.</a:t>
            </a:r>
          </a:p>
        </p:txBody>
      </p:sp>
      <p:pic>
        <p:nvPicPr>
          <p:cNvPr id="7" name="Picture 6" descr="01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80160"/>
            <a:ext cx="5486400" cy="2468880"/>
          </a:xfrm>
          <a:prstGeom prst="rect">
            <a:avLst/>
          </a:prstGeom>
        </p:spPr>
      </p:pic>
      <p:pic>
        <p:nvPicPr>
          <p:cNvPr id="8" name="Picture 7" descr="02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931920"/>
            <a:ext cx="54864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Attribute Summary — Key, Dimension &amp; Measure Mapping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Data Mining &amp; Data Warehousing (CSI3010) | Team: Data Miners (24MIC0068)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55680" y="228600"/>
            <a:ext cx="5486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4415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1645920"/>
                <a:gridCol w="4144975"/>
                <a:gridCol w="2011680"/>
              </a:tblGrid>
              <a:tr h="53035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Attribute 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DW Category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Description &amp; Clinical Mapping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Sample Stats / Value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Categorical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Dimension Attribute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Patient gender (Female: 58.6%, Male: 41.4%)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Female / Male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Numeric (Float)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Dimension / Measure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Patient age in years (Range: 0.08 to 80.0)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Mean: 41.8 yrs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hypertension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Binary (0/1)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Dimension Attribute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History of high blood pressure (0: 92.5%, 1: 7.5%)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 / 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heart_disease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Binary (0/1)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Dimension Attribute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History of heart condition (0: 96.1%, 1: 3.9%)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 /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smoking_history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Categorical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Dimension Attribute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Smoking status (never, No Info, current, former, etc.)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never (36.4%)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bmi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Numeric (Float)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Additive Measure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Body Mass Index kg/m² (Range: 10.0 to 95.7)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Mean: 27.3 kg/m²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HbA1c_level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Numeric (Float)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Additive Measure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Glycated hemoglobin percentage (Range: 3.5 to 9.0%)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Mean: 5.53%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blood_glucose_level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Numeric (Int)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Additive Measure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Fasting blood glucose mg/dL (Range: 80 to 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Mean: 138.1 mg/dL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diabetes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Binary (0/1)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Target Fact Measure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Diabetic diagnosis (0: Non-Diabetic, 1: Diabetic)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8,482 Positive (8.8%)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Data Warehouse Architecture — Star Schema Design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Data Mining &amp; Data Warehousing (CSI3010) | Team: Data Miners (24MIC0068)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55680" y="228600"/>
            <a:ext cx="5486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2926080"/>
            <a:ext cx="3657600" cy="34747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FACT_PATIENT_SCREENING</a:t>
            </a:r>
            <a:br/>
            <a:r>
              <a:t>(96,146 Rows)</a:t>
            </a:r>
          </a:p>
          <a:p>
            <a:pPr algn="l">
              <a:defRPr sz="950">
                <a:solidFill>
                  <a:srgbClr val="E2E8F0"/>
                </a:solidFill>
              </a:defRPr>
            </a:pPr>
            <a:r>
              <a:t>------------------------------------</a:t>
            </a:r>
          </a:p>
          <a:p>
            <a:pPr algn="l">
              <a:defRPr sz="950">
                <a:solidFill>
                  <a:srgbClr val="E2E8F0"/>
                </a:solidFill>
              </a:defRPr>
            </a:pPr>
            <a:r>
              <a:t>🔑 screening_id (PK)</a:t>
            </a:r>
          </a:p>
          <a:p>
            <a:pPr algn="l">
              <a:defRPr sz="950">
                <a:solidFill>
                  <a:srgbClr val="E2E8F0"/>
                </a:solidFill>
              </a:defRPr>
            </a:pPr>
            <a:r>
              <a:t>🔑 demographic_key (FK)</a:t>
            </a:r>
          </a:p>
          <a:p>
            <a:pPr algn="l">
              <a:defRPr sz="950">
                <a:solidFill>
                  <a:srgbClr val="E2E8F0"/>
                </a:solidFill>
              </a:defRPr>
            </a:pPr>
            <a:r>
              <a:t>🔑 clinical_risk_key (FK)</a:t>
            </a:r>
          </a:p>
          <a:p>
            <a:pPr algn="l">
              <a:defRPr sz="950">
                <a:solidFill>
                  <a:srgbClr val="E2E8F0"/>
                </a:solidFill>
              </a:defRPr>
            </a:pPr>
            <a:r>
              <a:t>🔑 metric_range_key (FK)</a:t>
            </a:r>
          </a:p>
          <a:p>
            <a:pPr algn="l">
              <a:defRPr sz="950">
                <a:solidFill>
                  <a:srgbClr val="E2E8F0"/>
                </a:solidFill>
              </a:defRPr>
            </a:pPr>
            <a:r>
              <a:t>------------------------------------</a:t>
            </a:r>
          </a:p>
          <a:p>
            <a:pPr algn="l">
              <a:defRPr sz="950">
                <a:solidFill>
                  <a:srgbClr val="E2E8F0"/>
                </a:solidFill>
              </a:defRPr>
            </a:pPr>
            <a:r>
              <a:t>📊 bmi (Additive Measure)</a:t>
            </a:r>
          </a:p>
          <a:p>
            <a:pPr algn="l">
              <a:defRPr sz="950">
                <a:solidFill>
                  <a:srgbClr val="E2E8F0"/>
                </a:solidFill>
              </a:defRPr>
            </a:pPr>
            <a:r>
              <a:t>📊 HbA1c_level (Additive Measure)</a:t>
            </a:r>
          </a:p>
          <a:p>
            <a:pPr algn="l">
              <a:defRPr sz="950">
                <a:solidFill>
                  <a:srgbClr val="E2E8F0"/>
                </a:solidFill>
              </a:defRPr>
            </a:pPr>
            <a:r>
              <a:t>📊 blood_glucose_level (Additive Measure)</a:t>
            </a:r>
          </a:p>
          <a:p>
            <a:pPr algn="l">
              <a:defRPr sz="950">
                <a:solidFill>
                  <a:srgbClr val="E2E8F0"/>
                </a:solidFill>
              </a:defRPr>
            </a:pPr>
            <a:r>
              <a:t>📌 is_diabetic (0/1 Fact Target)</a:t>
            </a:r>
          </a:p>
          <a:p>
            <a:pPr algn="l">
              <a:defRPr sz="950">
                <a:solidFill>
                  <a:srgbClr val="E2E8F0"/>
                </a:solidFill>
              </a:defRPr>
            </a:pPr>
            <a:r>
              <a:t>📌 is_hypertensive (0/1)</a:t>
            </a:r>
          </a:p>
          <a:p>
            <a:pPr algn="l">
              <a:defRPr sz="950">
                <a:solidFill>
                  <a:srgbClr val="E2E8F0"/>
                </a:solidFill>
              </a:defRPr>
            </a:pPr>
            <a:r>
              <a:t>📌 has_heart_disease (0/1)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291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DIM_DEMOGRAPHICS (14 Rows)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demographic_key (PK)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gender (Female, Male)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age_group (Child, Youth, Adult, Senior)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life_stage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51215" y="1371600"/>
            <a:ext cx="3291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DIM_CLINICAL_RISK (24 Rows)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clinical_risk_key (PK)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hypertension_status (No, Yes)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heart_disease_status (No, Yes)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smoking_category (never, current, etc.)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14800"/>
            <a:ext cx="32918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DIM_METRIC_RANGES (36 Rows)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metric_range_key (PK)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bmi_category (Underweight...Obese)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hba1c_category (Normal, Prediabetes...)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glucose_category (Normal...Diabetes)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51215" y="3840480"/>
            <a:ext cx="3291840" cy="256032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💡 STAR SCHEMA BENEFITS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1. Fast OLAP aggregations across demographic &amp; clinical cuts.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2. Clinical binning standardizes continuous medical variables.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3. Zero data redundancy in dimension tables.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4. Seamless SQL integration for interactive drill-downs &amp; roll-ups.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Warehouse Design Details &amp; ETL Workflow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Data Mining &amp; Data Warehousing (CSI3010) | Team: Data Miners (24MIC0068)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55680" y="228600"/>
            <a:ext cx="5486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47472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563EB"/>
                </a:solidFill>
              </a:defRPr>
            </a:pPr>
            <a:r>
              <a:t>📌 FACT TABLE &amp; GRAIN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• Grain Level:</a:t>
            </a:r>
            <a:r>
              <a:rPr sz="1050">
                <a:solidFill>
                  <a:srgbClr val="1E293B"/>
                </a:solidFill>
              </a:rPr>
              <a:t> Exactly one record per patient screening (96,146 total screening records).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• Primary Key:</a:t>
            </a:r>
            <a:r>
              <a:rPr sz="1050">
                <a:solidFill>
                  <a:srgbClr val="1E293B"/>
                </a:solidFill>
              </a:rPr>
              <a:t> screening_id (Surrogate Key 1..96146).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• Additive Measures:</a:t>
            </a:r>
            <a:r>
              <a:rPr sz="1050">
                <a:solidFill>
                  <a:srgbClr val="1E293B"/>
                </a:solidFill>
              </a:rPr>
              <a:t> bmi, HbA1c_level, blood_glucose_level.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• Fact Indicators:</a:t>
            </a:r>
            <a:r>
              <a:rPr sz="1050">
                <a:solidFill>
                  <a:srgbClr val="1E293B"/>
                </a:solidFill>
              </a:rPr>
              <a:t> is_diabetic, is_hypertensive, has_heart_disease (binary 0/1 counters).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• Foreign Keys:</a:t>
            </a:r>
            <a:r>
              <a:rPr sz="1050">
                <a:solidFill>
                  <a:srgbClr val="1E293B"/>
                </a:solidFill>
              </a:rPr>
              <a:t> FK references to 3 dimension tables (demographic_key, clinical_risk_key, metric_range_key).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3306764640" y="1280160"/>
            <a:ext cx="347472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563EB"/>
                </a:solidFill>
              </a:defRPr>
            </a:pPr>
            <a:r>
              <a:t>🌳 DIMENSIONS &amp; HIERARCHIES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• Demographic Hierarchy:</a:t>
            </a:r>
            <a:r>
              <a:rPr sz="1050">
                <a:solidFill>
                  <a:srgbClr val="1E293B"/>
                </a:solidFill>
              </a:rPr>
              <a:t> Gender → Age Group (Child [0-17] → Youth [18-35] → Adult [36-59] → Senior [60+]).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• BMI Clinical Hierarchy:</a:t>
            </a:r>
            <a:r>
              <a:rPr sz="1050">
                <a:solidFill>
                  <a:srgbClr val="1E293B"/>
                </a:solidFill>
              </a:rPr>
              <a:t> Continuous BMI → BMI Category (Underweight [&lt;18.5] → Normal [18.5-24.9] → Overweight [25-29.9] → Obese [≥30]).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• HbA1c Risk Hierarchy:</a:t>
            </a:r>
            <a:r>
              <a:rPr sz="1050">
                <a:solidFill>
                  <a:srgbClr val="1E293B"/>
                </a:solidFill>
              </a:rPr>
              <a:t> Continuous HbA1c → HbA1c Category (Normal [&lt;5.7%] → Prediabetes [5.7-6.4%] → Diabetic Range [≥6.5%]).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• Glucose Risk Hierarchy:</a:t>
            </a:r>
            <a:r>
              <a:rPr sz="1050">
                <a:solidFill>
                  <a:srgbClr val="1E293B"/>
                </a:solidFill>
              </a:rPr>
              <a:t> Continuous Glucose → Glucose Category (Normal [&lt;140] → Impaired [140-199] → Diabetes Range [≥200]).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66612980640" y="1280160"/>
            <a:ext cx="347472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563EB"/>
                </a:solidFill>
              </a:defRPr>
            </a:pPr>
            <a:r>
              <a:t>⚙️ ETL PROCESS &amp; TOOLS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• Extract:</a:t>
            </a:r>
            <a:r>
              <a:rPr sz="1050">
                <a:solidFill>
                  <a:srgbClr val="1E293B"/>
                </a:solidFill>
              </a:rPr>
              <a:t> Read raw Kaggle CSV dataset (100,000 screening instances).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• Transform:</a:t>
            </a:r>
            <a:r>
              <a:rPr sz="1050">
                <a:solidFill>
                  <a:srgbClr val="1E293B"/>
                </a:solidFill>
              </a:rPr>
              <a:t> Deduplication (drop 3,854 duplicates), missing value handling ('No Info' explicit retention), clinical range binning, surrogate key generation.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• Load:</a:t>
            </a:r>
            <a:r>
              <a:rPr sz="1050">
                <a:solidFill>
                  <a:srgbClr val="1E293B"/>
                </a:solidFill>
              </a:rPr>
              <a:t> Automated schema generation &amp; table population into SQLite relational database (diabetes_dw.db).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• Stack &amp; Tools:</a:t>
            </a:r>
            <a:r>
              <a:rPr sz="1050">
                <a:solidFill>
                  <a:srgbClr val="1E293B"/>
                </a:solidFill>
              </a:rPr>
              <a:t> Python 3.14, pandas, sqlite3, matplotlib, seaborn.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Sample OLAP Operations &amp; Multidimensional Results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Data Mining &amp; Data Warehousing (CSI3010) | Team: Data Miners (24MIC0068)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55680" y="228600"/>
            <a:ext cx="5486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1. ROLL-UP (Age Group → Gender)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Aggregates screening records from detailed Age Groups to high-level Gender.</a:t>
            </a:r>
            <a:br/>
            <a:br/>
            <a:r>
              <a:t>Result:</a:t>
            </a:r>
            <a:br/>
            <a:r>
              <a:t>• Female: 56,362 screenings | 3,923 Diabetic (7.0%)</a:t>
            </a:r>
            <a:br/>
            <a:r>
              <a:t>• Male: 39,784 screenings | 4,559 Diabetic (11.5%)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8016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2. DRILL-DOWN (Age Group → BMI Category)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Drills down from Age Group into detailed BMI categories.</a:t>
            </a:r>
            <a:br/>
            <a:br/>
            <a:r>
              <a:t>Result:</a:t>
            </a:r>
            <a:br/>
            <a:r>
              <a:t>• Adult (36-59) Obese: 14,210 screenings | 1,845 Diabetic (13.0%)</a:t>
            </a:r>
            <a:br/>
            <a:r>
              <a:t>• Senior (60+) Obese: 9,142 screenings | 2,156 Diabetic (23.6%)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3. SLICE (HbA1c = 'Diabetic Range (&gt;=6.5%)')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Filters the cube on a single dimension slice: HbA1c &gt;= 6.5%.</a:t>
            </a:r>
            <a:br/>
            <a:br/>
            <a:r>
              <a:t>Result:</a:t>
            </a:r>
            <a:br/>
            <a:r>
              <a:t>• Total Sliced Patients: 12,742</a:t>
            </a:r>
            <a:br/>
            <a:r>
              <a:t>• Diabetic Patients: 6,750 (53.0% Diabetes Risk!)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6590" y="3840480"/>
            <a:ext cx="34747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4. DICE (Male + Senior + Diabetic Glucose)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Filters sub-cube across 3 dimensions: Male, Senior (60+), Glucose &gt;= 200.</a:t>
            </a:r>
            <a:br/>
            <a:br/>
            <a:r>
              <a:t>Result:</a:t>
            </a:r>
            <a:br/>
            <a:r>
              <a:t>• Sub-cube Patients: 1,421</a:t>
            </a:r>
            <a:br/>
            <a:r>
              <a:t>• Diabetic Patients: 1,288 (90.6% Diabetes Risk!)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85455" y="3840480"/>
            <a:ext cx="362651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5. PIVOT (Cross-Tabulation Age vs BMI)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Rotates axes to cross-tabulate Age Group (Rows) against BMI Category (Cols).</a:t>
            </a:r>
            <a:br/>
            <a:br/>
            <a:r>
              <a:t>Result: Demonstrates non-linear compound risk multiplier when advancing in age and BMI.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Code: Creating the Data Warehouse (SQL DDL)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Data Mining &amp; Data Warehousing (CSI3010) | Team: Data Miners (24MIC0068)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55680" y="228600"/>
            <a:ext cx="5486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94415" cy="5120640"/>
          </a:xfrm>
          <a:prstGeom prst="roundRect">
            <a:avLst/>
          </a:prstGeom>
          <a:solidFill>
            <a:srgbClr val="0F172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E2E8F0"/>
                </a:solidFill>
                <a:latin typeface="Courier New"/>
              </a:defRPr>
            </a:pPr>
            <a:r>
              <a:t>-- =============================================================================</a:t>
            </a:r>
            <a:br/>
            <a:r>
              <a:t>-- DMDW PROJECT — Star Schema DDL (SQLite / PostgreSQL Compatible)</a:t>
            </a:r>
            <a:br/>
            <a:r>
              <a:t>-- =============================================================================</a:t>
            </a:r>
            <a:br/>
            <a:br/>
            <a:r>
              <a:t>CREATE TABLE dim_demographics (</a:t>
            </a:r>
            <a:br/>
            <a:r>
              <a:t>    demographic_key INTEGER PRIMARY KEY AUTOINCREMENT,</a:t>
            </a:r>
            <a:br/>
            <a:r>
              <a:t>    gender TEXT NOT NULL,</a:t>
            </a:r>
            <a:br/>
            <a:r>
              <a:t>    age_group TEXT NOT NULL,</a:t>
            </a:r>
            <a:br/>
            <a:r>
              <a:t>    life_stage TEXT NOT NULL</a:t>
            </a:r>
            <a:br/>
            <a:r>
              <a:t>);</a:t>
            </a:r>
            <a:br/>
            <a:br/>
            <a:r>
              <a:t>CREATE TABLE dim_clinical_risk (</a:t>
            </a:r>
            <a:br/>
            <a:r>
              <a:t>    clinical_risk_key INTEGER PRIMARY KEY AUTOINCREMENT,</a:t>
            </a:r>
            <a:br/>
            <a:r>
              <a:t>    hypertension_status TEXT NOT NULL,</a:t>
            </a:r>
            <a:br/>
            <a:r>
              <a:t>    heart_disease_status TEXT NOT NULL,</a:t>
            </a:r>
            <a:br/>
            <a:r>
              <a:t>    smoking_category TEXT NOT NULL</a:t>
            </a:r>
            <a:br/>
            <a:r>
              <a:t>);</a:t>
            </a:r>
            <a:br/>
            <a:br/>
            <a:r>
              <a:t>CREATE TABLE dim_metric_ranges (</a:t>
            </a:r>
            <a:br/>
            <a:r>
              <a:t>    metric_range_key INTEGER PRIMARY KEY AUTOINCREMENT,</a:t>
            </a:r>
            <a:br/>
            <a:r>
              <a:t>    bmi_category TEXT NOT NULL,</a:t>
            </a:r>
            <a:br/>
            <a:r>
              <a:t>    hba1c_category TEXT NOT NULL,</a:t>
            </a:r>
            <a:br/>
            <a:r>
              <a:t>    glucose_category TEXT NOT NULL</a:t>
            </a:r>
            <a:br/>
            <a:r>
              <a:t>);</a:t>
            </a:r>
            <a:br/>
            <a:br/>
            <a:r>
              <a:t>CREATE TABLE fact_patient_screening (</a:t>
            </a:r>
            <a:br/>
            <a:r>
              <a:t>    screening_id INTEGER PRIMARY KEY AUTOINCREMENT,</a:t>
            </a:r>
            <a:br/>
            <a:r>
              <a:t>    demographic_key INTEGER REFERENCES dim_demographics(demographic_key),</a:t>
            </a:r>
            <a:br/>
            <a:r>
              <a:t>    clinical_risk_key INTEGER REFERENCES dim_clinical_risk(clinical_risk_key),</a:t>
            </a:r>
            <a:br/>
            <a:r>
              <a:t>    metric_range_key INTEGER REFERENCES dim_metric_ranges(metric_range_key),</a:t>
            </a:r>
            <a:br/>
            <a:r>
              <a:t>    bmi REAL NOT NULL,</a:t>
            </a:r>
            <a:br/>
            <a:r>
              <a:t>    HbA1c_level REAL NOT NULL,</a:t>
            </a:r>
            <a:br/>
            <a:r>
              <a:t>    blood_glucose_level INTEGER NOT NULL,</a:t>
            </a:r>
            <a:br/>
            <a:r>
              <a:t>    is_diabetic INTEGER NOT NULL,</a:t>
            </a:r>
            <a:br/>
            <a:r>
              <a:t>    is_hypertensive INTEGER NOT NULL,</a:t>
            </a:r>
            <a:br/>
            <a:r>
              <a:t>    has_heart_disease INTEGER NOT NULL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Code: ETL Pipeline in Python (pandas &amp; sqlite3)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Data Mining &amp; Data Warehousing (CSI3010) | Team: Data Miners (24MIC0068)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55680" y="228600"/>
            <a:ext cx="5486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94415" cy="5120640"/>
          </a:xfrm>
          <a:prstGeom prst="roundRect">
            <a:avLst/>
          </a:prstGeom>
          <a:solidFill>
            <a:srgbClr val="0F172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E2E8F0"/>
                </a:solidFill>
                <a:latin typeface="Courier New"/>
              </a:defRPr>
            </a:pPr>
            <a:r>
              <a:t># =============================================================================</a:t>
            </a:r>
            <a:br/>
            <a:r>
              <a:t># DMDW PROJECT — Review 1: Concise ETL Pipeline Script</a:t>
            </a:r>
            <a:br/>
            <a:r>
              <a:t># =============================================================================</a:t>
            </a:r>
            <a:br/>
            <a:r>
              <a:t>import pandas as pd</a:t>
            </a:r>
            <a:br/>
            <a:r>
              <a:t>import sqlite3</a:t>
            </a:r>
            <a:br/>
            <a:br/>
            <a:r>
              <a:t># 1. EXTRACT</a:t>
            </a:r>
            <a:br/>
            <a:r>
              <a:t>df = pd.read_csv("data/diabetes_prediction_dataset.csv")</a:t>
            </a:r>
            <a:br/>
            <a:br/>
            <a:r>
              <a:t># 2. TRANSFORM &amp; CLEAN</a:t>
            </a:r>
            <a:br/>
            <a:r>
              <a:t>df = df.drop_duplicates()  # Removes 3,854 duplicates -&gt; 96,146 rows</a:t>
            </a:r>
            <a:br/>
            <a:br/>
            <a:r>
              <a:t># Derived Clinical Bins</a:t>
            </a:r>
            <a:br/>
            <a:r>
              <a:t>def get_age_group(age):</a:t>
            </a:r>
            <a:br/>
            <a:r>
              <a:t>    return 'Child' if age &lt; 18 else ('Youth' if age &lt; 36 else ('Adult' if age &lt; 60 else 'Senior'))</a:t>
            </a:r>
            <a:br/>
            <a:br/>
            <a:r>
              <a:t>def get_hba1c_cat(val):</a:t>
            </a:r>
            <a:br/>
            <a:r>
              <a:t>    return 'Normal (&lt;5.7)' if val &lt; 5.7 else ('Prediabetes (5.7-6.4)' if val &lt; 6.5 else 'Diabetic Range (&gt;=6.5)')</a:t>
            </a:r>
            <a:br/>
            <a:br/>
            <a:r>
              <a:t>df['age_group'] = df['age'].apply(get_age_group)</a:t>
            </a:r>
            <a:br/>
            <a:r>
              <a:t>df['hba1c_category'] = df['HbA1c_level'].apply(get_hba1c_cat)</a:t>
            </a:r>
            <a:br/>
            <a:br/>
            <a:r>
              <a:t># 3. LOAD TO DATA WAREHOUSE (SQLite Star Schema)</a:t>
            </a:r>
            <a:br/>
            <a:r>
              <a:t>conn = sqlite3.connect("database/diabetes_dw.db")</a:t>
            </a:r>
            <a:br/>
            <a:r>
              <a:t># Load Dimension Tables &amp; Populate Fact Table with Surrogate Keys...</a:t>
            </a:r>
            <a:br/>
            <a:r>
              <a:t>df.to_sql("fact_patient_screening", conn, if_exists="append", index=False)</a:t>
            </a:r>
            <a:br/>
            <a:r>
              <a:t>print("✅ ETL Execution Complete: 96,146 Records Loaded into Star Schema DW")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Code: Executed Sample OLAP Queries (SQL)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Data Mining &amp; Data Warehousing (CSI3010) | Team: Data Miners (24MIC0068)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55680" y="228600"/>
            <a:ext cx="5486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94415" cy="5120640"/>
          </a:xfrm>
          <a:prstGeom prst="roundRect">
            <a:avLst/>
          </a:prstGeom>
          <a:solidFill>
            <a:srgbClr val="0F172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E2E8F0"/>
                </a:solidFill>
                <a:latin typeface="Courier New"/>
              </a:defRPr>
            </a:pPr>
            <a:r>
              <a:t>-- 1. ROLL-UP: Aggregate Diabetes Count from Age Group to Gender</a:t>
            </a:r>
            <a:br/>
            <a:r>
              <a:t>SELECT d.gender, COUNT(*) AS total_screenings, SUM(f.is_diabetic) AS diabetic_patients,</a:t>
            </a:r>
            <a:br/>
            <a:r>
              <a:t>       ROUND(AVG(f.is_diabetic)*100, 2) AS prevalence_pct</a:t>
            </a:r>
            <a:br/>
            <a:r>
              <a:t>FROM fact_patient_screening f</a:t>
            </a:r>
            <a:br/>
            <a:r>
              <a:t>JOIN dim_demographics d ON f.demographic_key = d.demographic_key</a:t>
            </a:r>
            <a:br/>
            <a:r>
              <a:t>GROUP BY d.gender;</a:t>
            </a:r>
            <a:br/>
            <a:br/>
            <a:r>
              <a:t>-- 2. DRILL-DOWN: Breakdown Diabetes Risk from Age Group to BMI Category</a:t>
            </a:r>
            <a:br/>
            <a:r>
              <a:t>SELECT d.age_group, m.bmi_category, COUNT(*) AS patient_count, SUM(f.is_diabetic) AS diabetic_count</a:t>
            </a:r>
            <a:br/>
            <a:r>
              <a:t>FROM fact_patient_screening f</a:t>
            </a:r>
            <a:br/>
            <a:r>
              <a:t>JOIN dim_demographics d ON f.demographic_key = d.demographic_key</a:t>
            </a:r>
            <a:br/>
            <a:r>
              <a:t>JOIN dim_metric_ranges m ON f.metric_range_key = m.metric_range_key</a:t>
            </a:r>
            <a:br/>
            <a:r>
              <a:t>GROUP BY d.age_group, m.bmi_category;</a:t>
            </a:r>
            <a:br/>
            <a:br/>
            <a:r>
              <a:t>-- 3. SLICE: Fix HbA1c Category = 'Diabetic Range (&gt;=6.5%)'</a:t>
            </a:r>
            <a:br/>
            <a:r>
              <a:t>SELECT d.age_group, COUNT(*) AS slice_count, SUM(f.is_diabetic) AS diabetic_count</a:t>
            </a:r>
            <a:br/>
            <a:r>
              <a:t>FROM fact_patient_screening f</a:t>
            </a:r>
            <a:br/>
            <a:r>
              <a:t>JOIN dim_demographics d ON f.demographic_key = d.demographic_key</a:t>
            </a:r>
            <a:br/>
            <a:r>
              <a:t>JOIN dim_metric_ranges m ON f.metric_range_key = m.metric_range_key</a:t>
            </a:r>
            <a:br/>
            <a:r>
              <a:t>WHERE m.hba1c_category = 'Diabetic Range (&gt;=6.5%)'</a:t>
            </a:r>
            <a:br/>
            <a:r>
              <a:t>GROUP BY d.age_group;</a:t>
            </a:r>
            <a:br/>
            <a:br/>
            <a:r>
              <a:t>-- 4. DICE: Sub-cube filtering Male + Senior (60+) + High Glucose (&gt;=200)</a:t>
            </a:r>
            <a:br/>
            <a:r>
              <a:t>SELECT d.gender, d.age_group, m.glucose_category, COUNT(*) AS total, SUM(f.is_diabetic) AS diabetic</a:t>
            </a:r>
            <a:br/>
            <a:r>
              <a:t>FROM fact_patient_screening f</a:t>
            </a:r>
            <a:br/>
            <a:r>
              <a:t>JOIN dim_demographics d ON f.demographic_key = d.demographic_key</a:t>
            </a:r>
            <a:br/>
            <a:r>
              <a:t>JOIN dim_metric_ranges m ON f.metric_range_key = m.metric_range_key</a:t>
            </a:r>
            <a:br/>
            <a:r>
              <a:t>WHERE d.gender = 'Male' AND d.age_group = 'Senior (60+)' AND m.glucose_category = 'Diabetes Range (&gt;=200)'</a:t>
            </a:r>
            <a:br/>
            <a:r>
              <a:t>GROUP BY d.gender, d.age_group, m.glucose_category;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